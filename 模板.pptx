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989" r:id="rId2"/>
    <p:sldId id="1113" r:id="rId3"/>
    <p:sldId id="990" r:id="rId4"/>
    <p:sldId id="992" r:id="rId5"/>
    <p:sldId id="111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5353B9"/>
    <a:srgbClr val="005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 autoAdjust="0"/>
    <p:restoredTop sz="82721" autoAdjust="0"/>
  </p:normalViewPr>
  <p:slideViewPr>
    <p:cSldViewPr snapToGrid="0">
      <p:cViewPr varScale="1">
        <p:scale>
          <a:sx n="100" d="100"/>
          <a:sy n="100" d="100"/>
        </p:scale>
        <p:origin x="1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C4FFC-352F-41AD-A5B7-0891E17CAE89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DCC24-6A35-4ACA-9AE7-60649A93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59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>
              <a:latin typeface="Arial" panose="020B0604020202090204" pitchFamily="34" charset="0"/>
            </a:endParaRPr>
          </a:p>
        </p:txBody>
      </p:sp>
      <p:sp>
        <p:nvSpPr>
          <p:cNvPr id="2867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B0A723-6F4E-4DFB-AAE6-6B10AD66B14B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>
              <a:latin typeface="Arial" panose="020B0604020202090204" pitchFamily="34" charset="0"/>
            </a:endParaRPr>
          </a:p>
        </p:txBody>
      </p:sp>
      <p:sp>
        <p:nvSpPr>
          <p:cNvPr id="2867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B0A723-6F4E-4DFB-AAE6-6B10AD66B14B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344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CE89B8A3-59ED-48CD-87CE-FDE5719CF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4C966DA8-327A-4839-8B0F-193B49DB5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BDF8ED19-AAF6-4604-B5FD-1ED59742A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B0A723-6F4E-4DFB-AAE6-6B10AD66B14B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37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CE89B8A3-59ED-48CD-87CE-FDE5719CF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4C966DA8-327A-4839-8B0F-193B49DB5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BDF8ED19-AAF6-4604-B5FD-1ED59742A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B0A723-6F4E-4DFB-AAE6-6B10AD66B14B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24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>
              <a:latin typeface="Arial" panose="020B0604020202090204" pitchFamily="34" charset="0"/>
            </a:endParaRPr>
          </a:p>
        </p:txBody>
      </p:sp>
      <p:sp>
        <p:nvSpPr>
          <p:cNvPr id="2867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B0A723-6F4E-4DFB-AAE6-6B10AD66B14B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406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 userDrawn="1"/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深度学习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417185" cy="714375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530600" y="6350"/>
            <a:ext cx="8661400" cy="715010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628015"/>
            <a:ext cx="12186285" cy="142875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内容占位符 2"/>
          <p:cNvSpPr txBox="1"/>
          <p:nvPr userDrawn="1"/>
        </p:nvSpPr>
        <p:spPr>
          <a:xfrm>
            <a:off x="0" y="1447800"/>
            <a:ext cx="12192000" cy="508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340"/>
              </a:spcBef>
              <a:spcAft>
                <a:spcPct val="0"/>
              </a:spcAft>
              <a:buClr>
                <a:srgbClr val="01528A"/>
              </a:buClr>
              <a:buSzPct val="76000"/>
              <a:buFont typeface="Wingdings" panose="05000000000000000000" charset="0"/>
              <a:buChar char="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1528A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 userDrawn="1"/>
        </p:nvSpPr>
        <p:spPr>
          <a:xfrm>
            <a:off x="0" y="770891"/>
            <a:ext cx="12192000" cy="617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3200" b="1" dirty="0">
              <a:solidFill>
                <a:srgbClr val="01528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806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B05D0-7C18-A14B-0845-C47009FD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6D78E-0CFD-2DDD-E9A9-3AF8CA9B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3F932-7190-161E-D366-8EE37554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05A4E-01BB-39DE-0691-CFE97F26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A3E43-CA0D-268D-EDA4-A2F50C4F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73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8BBC7-834A-7769-52F1-DE0E4DD0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D0382F-90FD-53F8-18E3-DB5528D2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40DD9-9B12-101E-B4AF-75EAF01E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51FB4-6FD9-81CF-EBCE-6D2DBE92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5ACAC-7227-A4DA-BEC5-4847D5F2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9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7A1A0-5D61-63A6-23C0-713EA249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F83EB-868D-982B-7F06-113BC1BCF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1D39AA-398C-3E40-B8E8-2E1F7F2F2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A4C2A1-1B11-51B0-5F96-1CB73CDF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076718-271C-D1E1-FD3A-ACC8D760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BF29EA-F394-7894-F93D-E2869D24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73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5305A-55AF-6C8A-0A5F-297EF968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B41BCA-157D-4A18-92A6-6348D24E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F5384-2AA2-D9DB-0E8C-E663ECCBA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9E2CE2-B88D-F339-3EEB-B14897470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809D70-8B94-703B-4149-5AC2ABCD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0C4D6E-33EF-0037-3BE4-321C1C93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36C9E6-A926-85CA-83BD-D8E8A903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E07908-AE1D-7B80-8F8B-2E7C8C10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5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B7909-C9DC-5CBD-9533-99A9F17F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47A516-430C-FD69-EE9A-FE52320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DE872D-850F-0806-10E8-C1F2EB9D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8EB7FC-83F2-F2B9-2CA1-FF879569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565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0900F8-27D7-0B5C-56E1-74D4063E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9FABFA-4CCA-AFB6-20EA-CAEE7DBE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EED23-F702-C3C6-33F4-5763DDE9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9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89407-206B-056D-A887-6EDF574F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031B1-6A4B-8D34-981E-B95B18EF6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CCADE6-71D2-688D-9E97-A30643B1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941929-8FC0-1E0C-6142-1126E105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B946F4-5154-A738-38A8-BA44E0E8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D4FD53-57E9-BBEE-30D6-3EEC3A1B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30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3B5AD-8EA0-9308-C45F-B4C2553F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C6A69-11CC-1BE2-3DF5-23F075FB1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0D0BC8-F5F0-6495-3921-FC40EE3C5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D76C7B-BAB0-AFE5-0F56-EDE2446F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A3B526-674E-3BA8-DDD5-1B5B240E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87B55-C509-528F-B764-E93E445D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10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367C9-CC3B-F998-136F-1676E6E7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48B397-A26A-3AFA-5688-CE2BF27DF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8BE9F6-EE55-0960-7BD0-D8998897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AD0B2-370C-A044-AEAA-5A05FE3A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B372AD-3386-D16A-0639-01F57719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39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AD1853-0DE3-655C-A1CF-1CC5B7249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2F2242-A3F5-53E9-9D16-F193E1C8F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8A02D-9F1C-7907-A944-6F3E2DDC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7B308-8054-66F9-CF95-EE5E5B42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B0E6C-C878-889E-7BDF-A6123AD9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312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9" name="灯片编号占位符 5"/>
          <p:cNvSpPr>
            <a:spLocks noGrp="1"/>
          </p:cNvSpPr>
          <p:nvPr userDrawn="1"/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深度学习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417185" cy="714375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3530600" y="6350"/>
            <a:ext cx="8661400" cy="715010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628015"/>
            <a:ext cx="12186285" cy="142875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B59DF-7575-ACB5-10D4-E4E8E3E4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2DAB72-77CE-77E8-44C0-B9A7EF4F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6EE5C-5EE0-794E-0D3C-4A565EE6A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6D69F-0C19-76B3-A229-AE323FE46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高级机器学习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D1C3F7-F34F-96ED-7020-DB3CF15DF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FA78-BC36-46C1-BEDD-CCB154447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65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qianggao@swufe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hyperlink" Target="https://qianggao.xy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jpeg"/><Relationship Id="rId5" Type="http://schemas.openxmlformats.org/officeDocument/2006/relationships/image" Target="../media/image3.wmf"/><Relationship Id="rId10" Type="http://schemas.openxmlformats.org/officeDocument/2006/relationships/image" Target="../media/image5.jp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6238" y="1941513"/>
            <a:ext cx="11541125" cy="276998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/>
                <a:solidFill>
                  <a:schemeClr val="tx1"/>
                </a:solidFill>
                <a:effectLst/>
                <a:uLnTx/>
                <a:uFillTx/>
                <a:latin typeface="微软雅黑" panose="020B0703020204020201" pitchFamily="34" charset="-122"/>
                <a:ea typeface="宋体" panose="02010600030101010101" pitchFamily="2" charset="-122"/>
                <a:cs typeface="+mn-cs"/>
              </a:rPr>
              <a:t>深度学习</a:t>
            </a:r>
            <a:endParaRPr kumimoji="0" lang="en-US" altLang="zh-CN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/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高强 副教授 博士生导师（新财经综合实验室）</a:t>
            </a:r>
            <a:endParaRPr kumimoji="0" lang="en-US" altLang="zh-CN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hlinkClick r:id="" action="ppaction://noactio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/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hlinkClick r:id="rId3"/>
              </a:rPr>
              <a:t>qianggao@swufe.edu.cn</a:t>
            </a:r>
            <a:endParaRPr kumimoji="0" lang="en-US" altLang="zh-CN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n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hlinkClick r:id="rId4"/>
              </a:rPr>
              <a:t>https://qianggao.xyz/</a:t>
            </a:r>
            <a:endParaRPr lang="en-US" altLang="zh-CN" sz="2000" dirty="0">
              <a:ln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C93678-3A03-41F3-B603-5EFB56EEC87D}" type="datetime1">
              <a:rPr kumimoji="0" lang="en-US" altLang="zh-CN" sz="2000" b="0" i="0" u="none" strike="noStrike" kern="1200" cap="none" spc="0" normalizeH="0" baseline="0" noProof="0" smtClean="0">
                <a:ln/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8/26/26</a:t>
            </a:fld>
            <a:endParaRPr kumimoji="0" lang="zh-CN" altLang="en-US" sz="2000" b="0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7653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7054"/>
            <a:ext cx="12192000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/>
          <p:nvPr/>
        </p:nvCxnSpPr>
        <p:spPr>
          <a:xfrm>
            <a:off x="0" y="836332"/>
            <a:ext cx="12192000" cy="0"/>
          </a:xfrm>
          <a:prstGeom prst="line">
            <a:avLst/>
          </a:prstGeom>
          <a:ln w="38100">
            <a:solidFill>
              <a:srgbClr val="01528A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6342380" cy="8362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30600" y="6985"/>
            <a:ext cx="8661400" cy="836295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12192000" cy="77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专题二：神经网络架构基础</a:t>
            </a:r>
            <a:endParaRPr lang="en-US" altLang="zh-CN" sz="4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4226797" y="3513183"/>
            <a:ext cx="4741817" cy="7493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226798" y="2579205"/>
            <a:ext cx="4741817" cy="749341"/>
          </a:xfrm>
          <a:prstGeom prst="rect">
            <a:avLst/>
          </a:prstGeom>
          <a:solidFill>
            <a:schemeClr val="bg2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26799" y="1619246"/>
            <a:ext cx="4741817" cy="749341"/>
          </a:xfrm>
          <a:prstGeom prst="rect">
            <a:avLst/>
          </a:prstGeom>
          <a:solidFill>
            <a:schemeClr val="accent6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36332"/>
            <a:ext cx="12192000" cy="0"/>
          </a:xfrm>
          <a:prstGeom prst="line">
            <a:avLst/>
          </a:prstGeom>
          <a:ln w="38100">
            <a:solidFill>
              <a:srgbClr val="01528A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42380" cy="8362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30600" y="6985"/>
            <a:ext cx="8661400" cy="836295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12192000" cy="77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专题二：神经网络架构基础</a:t>
            </a:r>
            <a:endParaRPr sz="4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17908" y="173014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机器学习任务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162169" y="2765578"/>
            <a:ext cx="5677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17908" y="267248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理论和定理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162169" y="3707918"/>
            <a:ext cx="5677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17908" y="361482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60885B-B621-E54A-C228-B86B062DA2B1}"/>
              </a:ext>
            </a:extLst>
          </p:cNvPr>
          <p:cNvSpPr txBox="1"/>
          <p:nvPr/>
        </p:nvSpPr>
        <p:spPr>
          <a:xfrm>
            <a:off x="2162169" y="1840072"/>
            <a:ext cx="567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2042160" y="1751682"/>
            <a:ext cx="731520" cy="638443"/>
          </a:xfrm>
          <a:prstGeom prst="diamond">
            <a:avLst/>
          </a:prstGeom>
          <a:solidFill>
            <a:schemeClr val="accent6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菱形 38"/>
          <p:cNvSpPr/>
          <p:nvPr/>
        </p:nvSpPr>
        <p:spPr>
          <a:xfrm>
            <a:off x="2042160" y="2692208"/>
            <a:ext cx="731520" cy="638443"/>
          </a:xfrm>
          <a:prstGeom prst="diamond">
            <a:avLst/>
          </a:prstGeom>
          <a:solidFill>
            <a:schemeClr val="bg2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菱形 39"/>
          <p:cNvSpPr/>
          <p:nvPr/>
        </p:nvSpPr>
        <p:spPr>
          <a:xfrm>
            <a:off x="2042160" y="3614824"/>
            <a:ext cx="731520" cy="638443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989030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84AFA99-A37A-69F2-D1F0-C2CA09E9E080}"/>
              </a:ext>
            </a:extLst>
          </p:cNvPr>
          <p:cNvSpPr txBox="1">
            <a:spLocks/>
          </p:cNvSpPr>
          <p:nvPr/>
        </p:nvSpPr>
        <p:spPr>
          <a:xfrm>
            <a:off x="0" y="1467375"/>
            <a:ext cx="12192000" cy="47779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3591" marR="0" lvl="0" indent="-153591" algn="l" defTabSz="914400" rtl="0" eaLnBrk="1" fontAlgn="base" latinLnBrk="0" hangingPunct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华文楷体"/>
                <a:cs typeface="Arial" panose="020B0604020202020204" pitchFamily="34" charset="0"/>
              </a:rPr>
              <a:t>机器学习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华文楷体"/>
              <a:cs typeface="Arial" panose="020B0604020202020204" pitchFamily="34" charset="0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概念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原理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153591" marR="0" lvl="0" indent="-153591" algn="l" defTabSz="914400" rtl="0" eaLnBrk="1" fontAlgn="base" latinLnBrk="0" hangingPunct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华文楷体"/>
                <a:cs typeface="Arial" panose="020B0604020202020204" pitchFamily="34" charset="0"/>
              </a:rPr>
              <a:t>线性回归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华文楷体"/>
              <a:cs typeface="Arial" panose="020B0604020202020204" pitchFamily="34" charset="0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定义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经验风险最小化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462558" marR="0" lvl="2" indent="-128588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最小均方误差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结构风险最小化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最大似然估计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最大后验估计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153591" marR="0" lvl="0" indent="-153591" algn="l" defTabSz="914400" rtl="0" eaLnBrk="1" fontAlgn="base" latinLnBrk="0" hangingPunct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华文楷体"/>
                <a:cs typeface="Arial" panose="020B0604020202020204" pitchFamily="34" charset="0"/>
              </a:rPr>
              <a:t>机器学习的几个关键点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华文楷体"/>
              <a:cs typeface="Arial" panose="020B0604020202020204" pitchFamily="34" charset="0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楷体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770891"/>
            <a:ext cx="12192000" cy="617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zh-CN" altLang="en-US" sz="3600" b="1" dirty="0">
                <a:solidFill>
                  <a:srgbClr val="01528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机器学习任务：</a:t>
            </a:r>
            <a:r>
              <a:rPr lang="zh-CN" altLang="en-US" sz="36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概述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0" y="0"/>
            <a:ext cx="12192000" cy="77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专题二：神经网络架构基础</a:t>
            </a:r>
            <a:endParaRPr sz="4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8929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38279B77-7E68-275C-BDCD-28CED25EE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135778"/>
              </p:ext>
            </p:extLst>
          </p:nvPr>
        </p:nvGraphicFramePr>
        <p:xfrm>
          <a:off x="3583014" y="1811013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方程式" r:id="rId4" imgW="1790640" imgH="215640" progId="Equation.3">
                  <p:embed/>
                </p:oleObj>
              </mc:Choice>
              <mc:Fallback>
                <p:oleObj name="方程式" r:id="rId4" imgW="1790640" imgH="215640" progId="Equation.3">
                  <p:embed/>
                  <p:pic>
                    <p:nvPicPr>
                      <p:cNvPr id="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014" y="1811013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01E1BF26-75B1-34A8-77C8-B84A76604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25735"/>
              </p:ext>
            </p:extLst>
          </p:nvPr>
        </p:nvGraphicFramePr>
        <p:xfrm>
          <a:off x="3521296" y="2876046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方程式" r:id="rId6" imgW="1790640" imgH="215640" progId="Equation.3">
                  <p:embed/>
                </p:oleObj>
              </mc:Choice>
              <mc:Fallback>
                <p:oleObj name="方程式" r:id="rId6" imgW="1790640" imgH="215640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296" y="2876046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>
            <a:extLst>
              <a:ext uri="{FF2B5EF4-FFF2-40B4-BE49-F238E27FC236}">
                <a16:creationId xmlns:a16="http://schemas.microsoft.com/office/drawing/2014/main" id="{9FF51B48-89D1-21A8-DB0C-946C730D8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175344"/>
              </p:ext>
            </p:extLst>
          </p:nvPr>
        </p:nvGraphicFramePr>
        <p:xfrm>
          <a:off x="3500031" y="4028984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方程式" r:id="rId7" imgW="1790640" imgH="215640" progId="Equation.3">
                  <p:embed/>
                </p:oleObj>
              </mc:Choice>
              <mc:Fallback>
                <p:oleObj name="方程式" r:id="rId7" imgW="1790640" imgH="21564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031" y="4028984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>
            <a:extLst>
              <a:ext uri="{FF2B5EF4-FFF2-40B4-BE49-F238E27FC236}">
                <a16:creationId xmlns:a16="http://schemas.microsoft.com/office/drawing/2014/main" id="{E00A5BC0-44FC-F9E2-98CC-F0A8C13E9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039294"/>
              </p:ext>
            </p:extLst>
          </p:nvPr>
        </p:nvGraphicFramePr>
        <p:xfrm>
          <a:off x="3419583" y="5221424"/>
          <a:ext cx="35782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方程式" r:id="rId8" imgW="1676160" imgH="215640" progId="Equation.3">
                  <p:embed/>
                </p:oleObj>
              </mc:Choice>
              <mc:Fallback>
                <p:oleObj name="方程式" r:id="rId8" imgW="1676160" imgH="215640" progId="Equation.3">
                  <p:embed/>
                  <p:pic>
                    <p:nvPicPr>
                      <p:cNvPr id="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583" y="5221424"/>
                        <a:ext cx="357822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字方塊 7">
            <a:extLst>
              <a:ext uri="{FF2B5EF4-FFF2-40B4-BE49-F238E27FC236}">
                <a16:creationId xmlns:a16="http://schemas.microsoft.com/office/drawing/2014/main" id="{FA07F36C-B0D6-EB40-9FA7-B44C7A019A4F}"/>
              </a:ext>
            </a:extLst>
          </p:cNvPr>
          <p:cNvSpPr txBox="1"/>
          <p:nvPr/>
        </p:nvSpPr>
        <p:spPr>
          <a:xfrm>
            <a:off x="7343996" y="2844622"/>
            <a:ext cx="947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猫</a:t>
            </a: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”</a:t>
            </a:r>
            <a:endParaRPr lang="zh-TW" altLang="en-US" sz="28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29" name="文字方塊 8">
            <a:extLst>
              <a:ext uri="{FF2B5EF4-FFF2-40B4-BE49-F238E27FC236}">
                <a16:creationId xmlns:a16="http://schemas.microsoft.com/office/drawing/2014/main" id="{55979AC0-62C7-4E44-E97E-21DB427ACE69}"/>
              </a:ext>
            </a:extLst>
          </p:cNvPr>
          <p:cNvSpPr txBox="1"/>
          <p:nvPr/>
        </p:nvSpPr>
        <p:spPr>
          <a:xfrm>
            <a:off x="7405714" y="1779829"/>
            <a:ext cx="289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你好</a:t>
            </a: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”</a:t>
            </a:r>
            <a:endParaRPr lang="zh-TW" altLang="en-US" sz="28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30" name="文字方塊 9">
            <a:extLst>
              <a:ext uri="{FF2B5EF4-FFF2-40B4-BE49-F238E27FC236}">
                <a16:creationId xmlns:a16="http://schemas.microsoft.com/office/drawing/2014/main" id="{A76A57C0-6A1D-18BD-8E36-5557959F01F5}"/>
              </a:ext>
            </a:extLst>
          </p:cNvPr>
          <p:cNvSpPr txBox="1"/>
          <p:nvPr/>
        </p:nvSpPr>
        <p:spPr>
          <a:xfrm>
            <a:off x="7322732" y="3971294"/>
            <a:ext cx="1239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“5-5”</a:t>
            </a:r>
            <a:endParaRPr lang="zh-TW" altLang="en-US" sz="28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31" name="文字方塊 10">
            <a:extLst>
              <a:ext uri="{FF2B5EF4-FFF2-40B4-BE49-F238E27FC236}">
                <a16:creationId xmlns:a16="http://schemas.microsoft.com/office/drawing/2014/main" id="{7E98FC6F-7DB5-06DA-F184-D960F959F9FB}"/>
              </a:ext>
            </a:extLst>
          </p:cNvPr>
          <p:cNvSpPr txBox="1"/>
          <p:nvPr/>
        </p:nvSpPr>
        <p:spPr>
          <a:xfrm>
            <a:off x="7367261" y="5240273"/>
            <a:ext cx="3031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今天天气真不错</a:t>
            </a: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”</a:t>
            </a:r>
            <a:endParaRPr lang="zh-TW" altLang="en-US" sz="28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pic>
        <p:nvPicPr>
          <p:cNvPr id="32" name="圖片 11">
            <a:extLst>
              <a:ext uri="{FF2B5EF4-FFF2-40B4-BE49-F238E27FC236}">
                <a16:creationId xmlns:a16="http://schemas.microsoft.com/office/drawing/2014/main" id="{FBC27D4D-2DAF-5CEC-D75B-4133A254756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322" y="1779829"/>
            <a:ext cx="2754085" cy="51684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18EA485E-D6F9-DA39-65E5-A97A88D0004E}"/>
              </a:ext>
            </a:extLst>
          </p:cNvPr>
          <p:cNvSpPr/>
          <p:nvPr/>
        </p:nvSpPr>
        <p:spPr>
          <a:xfrm>
            <a:off x="3858694" y="5174622"/>
            <a:ext cx="2659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你好</a:t>
            </a:r>
            <a:r>
              <a:rPr lang="en-US" altLang="zh-TW" sz="28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”</a:t>
            </a:r>
            <a:endParaRPr lang="zh-TW" altLang="en-US" sz="28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pic>
        <p:nvPicPr>
          <p:cNvPr id="34" name="Picture 2" descr="http://y2.ifengimg.com/a/2016_11/2c7ef418c729099.jpg">
            <a:extLst>
              <a:ext uri="{FF2B5EF4-FFF2-40B4-BE49-F238E27FC236}">
                <a16:creationId xmlns:a16="http://schemas.microsoft.com/office/drawing/2014/main" id="{DA1EFC32-DF1E-9F3A-EE42-010AE71C1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530" y="3854447"/>
            <a:ext cx="1144109" cy="85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字方塊 15">
            <a:extLst>
              <a:ext uri="{FF2B5EF4-FFF2-40B4-BE49-F238E27FC236}">
                <a16:creationId xmlns:a16="http://schemas.microsoft.com/office/drawing/2014/main" id="{B21C1FC0-BF2A-6ED2-73EF-437394E203C7}"/>
              </a:ext>
            </a:extLst>
          </p:cNvPr>
          <p:cNvSpPr txBox="1"/>
          <p:nvPr/>
        </p:nvSpPr>
        <p:spPr>
          <a:xfrm>
            <a:off x="3916314" y="6098287"/>
            <a:ext cx="277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EB641B">
                    <a:lumMod val="60000"/>
                    <a:lumOff val="40000"/>
                  </a:srgbClr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用户输入</a:t>
            </a:r>
            <a:endParaRPr lang="zh-TW" altLang="en-US" sz="2400" dirty="0">
              <a:solidFill>
                <a:srgbClr val="EB641B">
                  <a:lumMod val="60000"/>
                  <a:lumOff val="40000"/>
                </a:srgbClr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36" name="文字方塊 18">
            <a:extLst>
              <a:ext uri="{FF2B5EF4-FFF2-40B4-BE49-F238E27FC236}">
                <a16:creationId xmlns:a16="http://schemas.microsoft.com/office/drawing/2014/main" id="{D749029D-57D6-2E1D-843B-3A00AFEFC132}"/>
              </a:ext>
            </a:extLst>
          </p:cNvPr>
          <p:cNvSpPr txBox="1"/>
          <p:nvPr/>
        </p:nvSpPr>
        <p:spPr>
          <a:xfrm>
            <a:off x="7311845" y="6161077"/>
            <a:ext cx="277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EB641B">
                    <a:lumMod val="60000"/>
                    <a:lumOff val="40000"/>
                  </a:srgbClr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机器</a:t>
            </a:r>
            <a:endParaRPr lang="zh-TW" altLang="en-US" sz="2400" dirty="0">
              <a:solidFill>
                <a:srgbClr val="EB641B">
                  <a:lumMod val="60000"/>
                  <a:lumOff val="40000"/>
                </a:srgbClr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pic>
        <p:nvPicPr>
          <p:cNvPr id="37" name="Picture 12" descr="https://encrypted-tbn1.gstatic.com/images?q=tbn:ANd9GcRcwlRKAlSIaCI4W5PRYVbuBQQXifF-56bFqAjh9DMe-_3Lh8_YKw">
            <a:extLst>
              <a:ext uri="{FF2B5EF4-FFF2-40B4-BE49-F238E27FC236}">
                <a16:creationId xmlns:a16="http://schemas.microsoft.com/office/drawing/2014/main" id="{69BDD06C-7C79-733B-E3C3-66511A3BD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739" y="2731089"/>
            <a:ext cx="1106043" cy="83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字方塊 17">
            <a:extLst>
              <a:ext uri="{FF2B5EF4-FFF2-40B4-BE49-F238E27FC236}">
                <a16:creationId xmlns:a16="http://schemas.microsoft.com/office/drawing/2014/main" id="{5D05422E-C810-5F99-67F6-13A227EF5EDE}"/>
              </a:ext>
            </a:extLst>
          </p:cNvPr>
          <p:cNvSpPr txBox="1"/>
          <p:nvPr/>
        </p:nvSpPr>
        <p:spPr>
          <a:xfrm>
            <a:off x="7942689" y="3952599"/>
            <a:ext cx="2543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(</a:t>
            </a:r>
            <a:r>
              <a:rPr lang="zh-CN" altLang="en-US" sz="24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落子位置</a:t>
            </a:r>
            <a:r>
              <a:rPr lang="en-US" altLang="zh-TW" sz="2400" dirty="0">
                <a:solidFill>
                  <a:srgbClr val="2A4A75"/>
                </a:solidFill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)</a:t>
            </a:r>
            <a:endParaRPr lang="zh-TW" altLang="en-US" sz="2400" dirty="0">
              <a:solidFill>
                <a:srgbClr val="2A4A75"/>
              </a:solidFill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0" y="0"/>
            <a:ext cx="12192000" cy="77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专题二：神经网络架构基础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0" y="770891"/>
            <a:ext cx="12192000" cy="617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zh-CN" altLang="en-US" sz="3600" b="1" dirty="0">
                <a:solidFill>
                  <a:srgbClr val="01528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机器学习任务：</a:t>
            </a:r>
            <a:r>
              <a:rPr lang="zh-CN" altLang="en-US" sz="36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619891-C3B7-C3FA-F740-819C2A64604A}"/>
              </a:ext>
            </a:extLst>
          </p:cNvPr>
          <p:cNvSpPr txBox="1"/>
          <p:nvPr/>
        </p:nvSpPr>
        <p:spPr>
          <a:xfrm>
            <a:off x="828002" y="1732080"/>
            <a:ext cx="617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5490"/>
                </a:solidFill>
                <a:latin typeface="Times New Roman"/>
                <a:ea typeface="华文楷体"/>
              </a:rPr>
              <a:t>语音识别</a:t>
            </a:r>
            <a:endParaRPr lang="en-US" altLang="zh-CN" sz="2800" dirty="0">
              <a:solidFill>
                <a:srgbClr val="005490"/>
              </a:solidFill>
              <a:latin typeface="Times New Roman"/>
              <a:ea typeface="华文楷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1A2631-BA9C-C123-C6FB-3604E2D1B2AD}"/>
              </a:ext>
            </a:extLst>
          </p:cNvPr>
          <p:cNvSpPr txBox="1"/>
          <p:nvPr/>
        </p:nvSpPr>
        <p:spPr>
          <a:xfrm>
            <a:off x="828002" y="2844622"/>
            <a:ext cx="617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5490"/>
                </a:solidFill>
                <a:latin typeface="Times New Roman"/>
                <a:ea typeface="华文楷体"/>
              </a:rPr>
              <a:t>图像识别</a:t>
            </a:r>
            <a:endParaRPr lang="en-US" altLang="zh-CN" sz="2800" dirty="0">
              <a:solidFill>
                <a:srgbClr val="005490"/>
              </a:solidFill>
              <a:latin typeface="Times New Roman"/>
              <a:ea typeface="华文楷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D52AA2-87C0-EEA7-A7DD-8F8E908B8008}"/>
              </a:ext>
            </a:extLst>
          </p:cNvPr>
          <p:cNvSpPr txBox="1"/>
          <p:nvPr/>
        </p:nvSpPr>
        <p:spPr>
          <a:xfrm>
            <a:off x="836130" y="4027572"/>
            <a:ext cx="617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5490"/>
                </a:solidFill>
                <a:latin typeface="Times New Roman"/>
                <a:ea typeface="华文楷体"/>
              </a:rPr>
              <a:t>围棋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2662A2-D892-7401-E413-08F74E4C51CD}"/>
              </a:ext>
            </a:extLst>
          </p:cNvPr>
          <p:cNvSpPr txBox="1"/>
          <p:nvPr/>
        </p:nvSpPr>
        <p:spPr>
          <a:xfrm>
            <a:off x="836130" y="5142070"/>
            <a:ext cx="617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005490"/>
                </a:solidFill>
                <a:latin typeface="Times New Roman"/>
                <a:ea typeface="华文楷体"/>
              </a:rPr>
              <a:t>对话系统</a:t>
            </a:r>
          </a:p>
        </p:txBody>
      </p:sp>
    </p:spTree>
    <p:extLst>
      <p:ext uri="{BB962C8B-B14F-4D97-AF65-F5344CB8AC3E}">
        <p14:creationId xmlns:p14="http://schemas.microsoft.com/office/powerpoint/2010/main" val="117894236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4226797" y="3513183"/>
            <a:ext cx="4741817" cy="7493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226798" y="2579205"/>
            <a:ext cx="4741817" cy="749341"/>
          </a:xfrm>
          <a:prstGeom prst="rect">
            <a:avLst/>
          </a:prstGeom>
          <a:solidFill>
            <a:schemeClr val="accent6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26799" y="1619246"/>
            <a:ext cx="4741817" cy="749341"/>
          </a:xfrm>
          <a:prstGeom prst="rect">
            <a:avLst/>
          </a:prstGeom>
          <a:solidFill>
            <a:schemeClr val="bg2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36332"/>
            <a:ext cx="12192000" cy="0"/>
          </a:xfrm>
          <a:prstGeom prst="line">
            <a:avLst/>
          </a:prstGeom>
          <a:ln w="38100">
            <a:solidFill>
              <a:srgbClr val="01528A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42380" cy="8362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30600" y="6985"/>
            <a:ext cx="8661400" cy="836295"/>
          </a:xfrm>
          <a:prstGeom prst="rect">
            <a:avLst/>
          </a:prstGeom>
          <a:solidFill>
            <a:srgbClr val="01528A"/>
          </a:solidFill>
          <a:ln>
            <a:solidFill>
              <a:srgbClr val="01528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12192000" cy="77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专题二：神经网络架构基础</a:t>
            </a:r>
            <a:endParaRPr sz="4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17908" y="173014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机器学习任务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162169" y="2765578"/>
            <a:ext cx="5677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17908" y="267248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理论和定理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162169" y="3707918"/>
            <a:ext cx="5677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17908" y="3614824"/>
            <a:ext cx="695960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神经网络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60885B-B621-E54A-C228-B86B062DA2B1}"/>
              </a:ext>
            </a:extLst>
          </p:cNvPr>
          <p:cNvSpPr txBox="1"/>
          <p:nvPr/>
        </p:nvSpPr>
        <p:spPr>
          <a:xfrm>
            <a:off x="2162169" y="1840072"/>
            <a:ext cx="567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2042160" y="1751682"/>
            <a:ext cx="731520" cy="638443"/>
          </a:xfrm>
          <a:prstGeom prst="diamond">
            <a:avLst/>
          </a:prstGeom>
          <a:solidFill>
            <a:schemeClr val="bg2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菱形 38"/>
          <p:cNvSpPr/>
          <p:nvPr/>
        </p:nvSpPr>
        <p:spPr>
          <a:xfrm>
            <a:off x="2042160" y="2692208"/>
            <a:ext cx="731520" cy="638443"/>
          </a:xfrm>
          <a:prstGeom prst="diamond">
            <a:avLst/>
          </a:prstGeom>
          <a:solidFill>
            <a:schemeClr val="accent6"/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菱形 39"/>
          <p:cNvSpPr/>
          <p:nvPr/>
        </p:nvSpPr>
        <p:spPr>
          <a:xfrm>
            <a:off x="2042160" y="3614824"/>
            <a:ext cx="731520" cy="638443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85041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169</Words>
  <Application>Microsoft Macintosh PowerPoint</Application>
  <PresentationFormat>宽屏</PresentationFormat>
  <Paragraphs>54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等线</vt:lpstr>
      <vt:lpstr>等线 Light</vt:lpstr>
      <vt:lpstr>黑体</vt:lpstr>
      <vt:lpstr>楷体</vt:lpstr>
      <vt:lpstr>微软雅黑</vt:lpstr>
      <vt:lpstr>Arial</vt:lpstr>
      <vt:lpstr>Times New Roman</vt:lpstr>
      <vt:lpstr>Wingdings</vt:lpstr>
      <vt:lpstr>Wingdings 3</vt:lpstr>
      <vt:lpstr>Office 主题​​</vt:lpstr>
      <vt:lpstr>方程式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gaoqiang</dc:creator>
  <cp:lastModifiedBy>吕新昱</cp:lastModifiedBy>
  <cp:revision>152</cp:revision>
  <dcterms:created xsi:type="dcterms:W3CDTF">2022-09-03T14:29:02Z</dcterms:created>
  <dcterms:modified xsi:type="dcterms:W3CDTF">2026-08-26T06:15:41Z</dcterms:modified>
</cp:coreProperties>
</file>